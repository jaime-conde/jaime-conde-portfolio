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nton" charset="1" panose="00000500000000000000"/>
      <p:regular r:id="rId14"/>
    </p:embeddedFont>
    <p:embeddedFont>
      <p:font typeface="Helvetica World" charset="1" panose="020B0500040000020004"/>
      <p:regular r:id="rId15"/>
    </p:embeddedFont>
    <p:embeddedFont>
      <p:font typeface="Helvetica World Bold" charset="1" panose="020B08000400000200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embeddings/oleObject2.bin" Type="http://schemas.openxmlformats.org/officeDocument/2006/relationships/oleObject"/><Relationship Id="rId4" Target="../media/image5.png" Type="http://schemas.openxmlformats.org/officeDocument/2006/relationships/image"/><Relationship Id="rId5" Target="../embeddings/oleObject3.bin" Type="http://schemas.openxmlformats.org/officeDocument/2006/relationships/oleObjec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embeddings/oleObject4.bin" Type="http://schemas.openxmlformats.org/officeDocument/2006/relationships/oleObjec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embeddings/oleObject5.bin" Type="http://schemas.openxmlformats.org/officeDocument/2006/relationships/oleObjec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1F4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91203" y="1797648"/>
            <a:ext cx="10881878" cy="439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40"/>
              </a:lnSpc>
            </a:pPr>
            <a:r>
              <a:rPr lang="en-US" sz="12600" spc="-529">
                <a:solidFill>
                  <a:srgbClr val="2C4D32"/>
                </a:solidFill>
                <a:latin typeface="Anton"/>
                <a:ea typeface="Anton"/>
                <a:cs typeface="Anton"/>
                <a:sym typeface="Anton"/>
              </a:rPr>
              <a:t>DATA-DRIVEN</a:t>
            </a:r>
            <a:r>
              <a:rPr lang="en-US" sz="12600" spc="-529">
                <a:solidFill>
                  <a:srgbClr val="2C4D32"/>
                </a:solidFill>
                <a:latin typeface="Anton"/>
                <a:ea typeface="Anton"/>
                <a:cs typeface="Anton"/>
                <a:sym typeface="Anton"/>
              </a:rPr>
              <a:t>SOLAR</a:t>
            </a:r>
          </a:p>
          <a:p>
            <a:pPr algn="ctr">
              <a:lnSpc>
                <a:spcPts val="17640"/>
              </a:lnSpc>
              <a:spcBef>
                <a:spcPct val="0"/>
              </a:spcBef>
            </a:pPr>
            <a:r>
              <a:rPr lang="en-US" sz="12600" spc="-529">
                <a:solidFill>
                  <a:srgbClr val="2C4D32"/>
                </a:solidFill>
                <a:latin typeface="Anton"/>
                <a:ea typeface="Anton"/>
                <a:cs typeface="Anton"/>
                <a:sym typeface="Anton"/>
              </a:rPr>
              <a:t>AEROPONICS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748099" y="6564396"/>
            <a:ext cx="10168086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448E05"/>
                </a:solidFill>
                <a:latin typeface="Anton"/>
                <a:ea typeface="Anton"/>
                <a:cs typeface="Anton"/>
                <a:sym typeface="Anton"/>
              </a:rPr>
              <a:t> DESIGN, BUILD, AND IMPLEMENTATION PLAN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351772" y="7866146"/>
            <a:ext cx="4960739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-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Project Lead: Jaime Conde and Shazia Khan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-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Team: Flora, Torrin, Citlaly, Luke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F4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51923" y="5638097"/>
            <a:ext cx="607377" cy="607377"/>
          </a:xfrm>
          <a:custGeom>
            <a:avLst/>
            <a:gdLst/>
            <a:ahLst/>
            <a:cxnLst/>
            <a:rect r="r" b="b" t="t" l="l"/>
            <a:pathLst>
              <a:path h="607377" w="607377">
                <a:moveTo>
                  <a:pt x="0" y="0"/>
                </a:moveTo>
                <a:lnTo>
                  <a:pt x="607377" y="0"/>
                </a:lnTo>
                <a:lnTo>
                  <a:pt x="607377" y="607377"/>
                </a:lnTo>
                <a:lnTo>
                  <a:pt x="0" y="6073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9702" y="2826203"/>
            <a:ext cx="965824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999" spc="-119">
                <a:solidFill>
                  <a:srgbClr val="2C4D32"/>
                </a:solidFill>
                <a:latin typeface="Anton"/>
                <a:ea typeface="Anton"/>
                <a:cs typeface="Anton"/>
                <a:sym typeface="Anton"/>
              </a:rPr>
              <a:t>Goal of this meeting: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69702" y="595903"/>
            <a:ext cx="10686946" cy="2029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9"/>
              </a:lnSpc>
            </a:pPr>
            <a:r>
              <a:rPr lang="en-US" sz="16343" spc="-686">
                <a:solidFill>
                  <a:srgbClr val="2C4D32"/>
                </a:solidFill>
                <a:latin typeface="Anton"/>
                <a:ea typeface="Anton"/>
                <a:cs typeface="Anton"/>
                <a:sym typeface="Anton"/>
              </a:rPr>
              <a:t>OBJECTIVE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9702" y="3188153"/>
            <a:ext cx="10976013" cy="2590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2" indent="-323846" lvl="1">
              <a:lnSpc>
                <a:spcPts val="4199"/>
              </a:lnSpc>
              <a:buAutoNum type="arabicPeriod" startAt="1"/>
            </a:pPr>
            <a:r>
              <a:rPr lang="en-US" sz="2999" spc="-119">
                <a:solidFill>
                  <a:srgbClr val="2C4D32"/>
                </a:solidFill>
                <a:latin typeface="Anton"/>
                <a:ea typeface="Anton"/>
                <a:cs typeface="Anton"/>
                <a:sym typeface="Anton"/>
              </a:rPr>
              <a:t> Finalize required materials and identify missing components</a:t>
            </a:r>
          </a:p>
          <a:p>
            <a:pPr algn="l" marL="647692" indent="-323846" lvl="1">
              <a:lnSpc>
                <a:spcPts val="4199"/>
              </a:lnSpc>
              <a:buAutoNum type="arabicPeriod" startAt="1"/>
            </a:pPr>
            <a:r>
              <a:rPr lang="en-US" sz="2999" spc="-119">
                <a:solidFill>
                  <a:srgbClr val="2C4D32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  <a:r>
              <a:rPr lang="en-US" sz="2999" spc="-119">
                <a:solidFill>
                  <a:srgbClr val="2C4D32"/>
                </a:solidFill>
                <a:latin typeface="Anton"/>
                <a:ea typeface="Anton"/>
                <a:cs typeface="Anton"/>
                <a:sym typeface="Anton"/>
              </a:rPr>
              <a:t>Assign clear roles and responsibilities for each subsystem</a:t>
            </a:r>
          </a:p>
          <a:p>
            <a:pPr algn="l" marL="647692" indent="-323846" lvl="1">
              <a:lnSpc>
                <a:spcPts val="4199"/>
              </a:lnSpc>
              <a:buAutoNum type="arabicPeriod" startAt="1"/>
            </a:pPr>
            <a:r>
              <a:rPr lang="en-US" sz="2999" spc="-119">
                <a:solidFill>
                  <a:srgbClr val="2C4D32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  <a:r>
              <a:rPr lang="en-US" sz="2999" spc="-119">
                <a:solidFill>
                  <a:srgbClr val="2C4D32"/>
                </a:solidFill>
                <a:latin typeface="Anton"/>
                <a:ea typeface="Anton"/>
                <a:cs typeface="Anton"/>
                <a:sym typeface="Anton"/>
              </a:rPr>
              <a:t>Establish a realistic build timeline and work location</a:t>
            </a:r>
          </a:p>
          <a:p>
            <a:pPr algn="l" marL="647692" indent="-323846" lvl="1">
              <a:lnSpc>
                <a:spcPts val="4199"/>
              </a:lnSpc>
              <a:buAutoNum type="arabicPeriod" startAt="1"/>
            </a:pPr>
            <a:r>
              <a:rPr lang="en-US" sz="2999" spc="-119">
                <a:solidFill>
                  <a:srgbClr val="2C4D32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  <a:r>
              <a:rPr lang="en-US" sz="2999" spc="-119">
                <a:solidFill>
                  <a:srgbClr val="2C4D32"/>
                </a:solidFill>
                <a:latin typeface="Anton"/>
                <a:ea typeface="Anton"/>
                <a:cs typeface="Anton"/>
                <a:sym typeface="Anton"/>
              </a:rPr>
              <a:t>Confirm team commitment, availability, and long-term ownership</a:t>
            </a:r>
          </a:p>
          <a:p>
            <a:pPr algn="l">
              <a:lnSpc>
                <a:spcPts val="419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1F4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15371" y="697857"/>
            <a:ext cx="8880736" cy="101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sz="8267" spc="-347">
                <a:solidFill>
                  <a:srgbClr val="2C4D32"/>
                </a:solidFill>
                <a:latin typeface="Anton"/>
                <a:ea typeface="Anton"/>
                <a:cs typeface="Anton"/>
                <a:sym typeface="Anton"/>
              </a:rPr>
              <a:t>SYSTEM OVERVIEW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33350" y="4691871"/>
            <a:ext cx="4222389" cy="1733192"/>
            <a:chOff x="0" y="0"/>
            <a:chExt cx="877204" cy="3600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77204" cy="360072"/>
            </a:xfrm>
            <a:custGeom>
              <a:avLst/>
              <a:gdLst/>
              <a:ahLst/>
              <a:cxnLst/>
              <a:rect r="r" b="b" t="t" l="l"/>
              <a:pathLst>
                <a:path h="360072" w="877204">
                  <a:moveTo>
                    <a:pt x="45839" y="0"/>
                  </a:moveTo>
                  <a:lnTo>
                    <a:pt x="831366" y="0"/>
                  </a:lnTo>
                  <a:cubicBezTo>
                    <a:pt x="856682" y="0"/>
                    <a:pt x="877204" y="20523"/>
                    <a:pt x="877204" y="45839"/>
                  </a:cubicBezTo>
                  <a:lnTo>
                    <a:pt x="877204" y="314233"/>
                  </a:lnTo>
                  <a:cubicBezTo>
                    <a:pt x="877204" y="339549"/>
                    <a:pt x="856682" y="360072"/>
                    <a:pt x="831366" y="360072"/>
                  </a:cubicBezTo>
                  <a:lnTo>
                    <a:pt x="45839" y="360072"/>
                  </a:lnTo>
                  <a:cubicBezTo>
                    <a:pt x="20523" y="360072"/>
                    <a:pt x="0" y="339549"/>
                    <a:pt x="0" y="314233"/>
                  </a:cubicBezTo>
                  <a:lnTo>
                    <a:pt x="0" y="45839"/>
                  </a:lnTo>
                  <a:cubicBezTo>
                    <a:pt x="0" y="20523"/>
                    <a:pt x="20523" y="0"/>
                    <a:pt x="45839" y="0"/>
                  </a:cubicBezTo>
                  <a:close/>
                </a:path>
              </a:pathLst>
            </a:custGeom>
            <a:solidFill>
              <a:srgbClr val="F8FFF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877204" cy="321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04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66651" y="5419787"/>
            <a:ext cx="4417534" cy="1185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0995" indent="-185498" lvl="1">
              <a:lnSpc>
                <a:spcPts val="2405"/>
              </a:lnSpc>
              <a:buFont typeface="Arial"/>
              <a:buChar char="•"/>
            </a:pPr>
            <a:r>
              <a:rPr lang="en-US" sz="1718" spc="-68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Vertical aeroponic growing system</a:t>
            </a:r>
          </a:p>
          <a:p>
            <a:pPr algn="l" marL="370995" indent="-185498" lvl="1">
              <a:lnSpc>
                <a:spcPts val="2405"/>
              </a:lnSpc>
              <a:buFont typeface="Arial"/>
              <a:buChar char="•"/>
            </a:pPr>
            <a:r>
              <a:rPr lang="en-US" sz="1718" spc="-68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Soil-free, mist-based root nourishment</a:t>
            </a:r>
          </a:p>
          <a:p>
            <a:pPr algn="l" marL="370995" indent="-185498" lvl="1">
              <a:lnSpc>
                <a:spcPts val="2405"/>
              </a:lnSpc>
              <a:buFont typeface="Arial"/>
              <a:buChar char="•"/>
            </a:pPr>
            <a:r>
              <a:rPr lang="en-US" sz="1718" spc="-68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Sensor-driven (pH, TDS, temperature)</a:t>
            </a:r>
          </a:p>
          <a:p>
            <a:pPr algn="l">
              <a:lnSpc>
                <a:spcPts val="240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03923" y="4793585"/>
            <a:ext cx="4417534" cy="30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5"/>
              </a:lnSpc>
            </a:pPr>
            <a:r>
              <a:rPr lang="en-US" sz="1718" spc="-68" b="true">
                <a:solidFill>
                  <a:srgbClr val="2C4D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System Type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732520" y="7569139"/>
            <a:ext cx="3100198" cy="1725804"/>
            <a:chOff x="0" y="0"/>
            <a:chExt cx="463496" cy="2580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3496" cy="258017"/>
            </a:xfrm>
            <a:custGeom>
              <a:avLst/>
              <a:gdLst/>
              <a:ahLst/>
              <a:cxnLst/>
              <a:rect r="r" b="b" t="t" l="l"/>
              <a:pathLst>
                <a:path h="258017" w="463496">
                  <a:moveTo>
                    <a:pt x="62431" y="0"/>
                  </a:moveTo>
                  <a:lnTo>
                    <a:pt x="401065" y="0"/>
                  </a:lnTo>
                  <a:cubicBezTo>
                    <a:pt x="417623" y="0"/>
                    <a:pt x="433502" y="6578"/>
                    <a:pt x="445210" y="18286"/>
                  </a:cubicBezTo>
                  <a:cubicBezTo>
                    <a:pt x="456919" y="29994"/>
                    <a:pt x="463496" y="45873"/>
                    <a:pt x="463496" y="62431"/>
                  </a:cubicBezTo>
                  <a:lnTo>
                    <a:pt x="463496" y="195586"/>
                  </a:lnTo>
                  <a:cubicBezTo>
                    <a:pt x="463496" y="230066"/>
                    <a:pt x="435545" y="258017"/>
                    <a:pt x="401065" y="258017"/>
                  </a:cubicBezTo>
                  <a:lnTo>
                    <a:pt x="62431" y="258017"/>
                  </a:lnTo>
                  <a:cubicBezTo>
                    <a:pt x="45873" y="258017"/>
                    <a:pt x="29994" y="251439"/>
                    <a:pt x="18286" y="239731"/>
                  </a:cubicBezTo>
                  <a:cubicBezTo>
                    <a:pt x="6578" y="228023"/>
                    <a:pt x="0" y="212144"/>
                    <a:pt x="0" y="195586"/>
                  </a:cubicBezTo>
                  <a:lnTo>
                    <a:pt x="0" y="62431"/>
                  </a:lnTo>
                  <a:cubicBezTo>
                    <a:pt x="0" y="27951"/>
                    <a:pt x="27951" y="0"/>
                    <a:pt x="62431" y="0"/>
                  </a:cubicBezTo>
                  <a:close/>
                </a:path>
              </a:pathLst>
            </a:custGeom>
            <a:solidFill>
              <a:srgbClr val="F8FFF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38100"/>
              <a:ext cx="463496" cy="2199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04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084886" y="8083801"/>
            <a:ext cx="2738114" cy="572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9130" indent="-184565" lvl="1">
              <a:lnSpc>
                <a:spcPts val="2393"/>
              </a:lnSpc>
              <a:buFont typeface="Arial"/>
              <a:buChar char="•"/>
            </a:pPr>
            <a:r>
              <a:rPr lang="en-US" sz="1709" spc="-68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LED</a:t>
            </a:r>
            <a:r>
              <a:rPr lang="en-US" sz="1709" spc="-68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grow lights</a:t>
            </a:r>
          </a:p>
          <a:p>
            <a:pPr algn="l">
              <a:lnSpc>
                <a:spcPts val="2393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8958224" y="7678317"/>
            <a:ext cx="2514153" cy="292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3"/>
              </a:lnSpc>
            </a:pPr>
            <a:r>
              <a:rPr lang="en-US" sz="1709" spc="-68" b="true">
                <a:solidFill>
                  <a:srgbClr val="2C4D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Lighting 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950201" y="7586447"/>
            <a:ext cx="4093305" cy="1725804"/>
            <a:chOff x="0" y="0"/>
            <a:chExt cx="910419" cy="3838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0419" cy="383847"/>
            </a:xfrm>
            <a:custGeom>
              <a:avLst/>
              <a:gdLst/>
              <a:ahLst/>
              <a:cxnLst/>
              <a:rect r="r" b="b" t="t" l="l"/>
              <a:pathLst>
                <a:path h="383847" w="910419">
                  <a:moveTo>
                    <a:pt x="47284" y="0"/>
                  </a:moveTo>
                  <a:lnTo>
                    <a:pt x="863135" y="0"/>
                  </a:lnTo>
                  <a:cubicBezTo>
                    <a:pt x="875675" y="0"/>
                    <a:pt x="887702" y="4982"/>
                    <a:pt x="896569" y="13849"/>
                  </a:cubicBezTo>
                  <a:cubicBezTo>
                    <a:pt x="905437" y="22717"/>
                    <a:pt x="910419" y="34744"/>
                    <a:pt x="910419" y="47284"/>
                  </a:cubicBezTo>
                  <a:lnTo>
                    <a:pt x="910419" y="336563"/>
                  </a:lnTo>
                  <a:cubicBezTo>
                    <a:pt x="910419" y="362677"/>
                    <a:pt x="889249" y="383847"/>
                    <a:pt x="863135" y="383847"/>
                  </a:cubicBezTo>
                  <a:lnTo>
                    <a:pt x="47284" y="383847"/>
                  </a:lnTo>
                  <a:cubicBezTo>
                    <a:pt x="34744" y="383847"/>
                    <a:pt x="22717" y="378866"/>
                    <a:pt x="13849" y="369998"/>
                  </a:cubicBezTo>
                  <a:cubicBezTo>
                    <a:pt x="4982" y="361131"/>
                    <a:pt x="0" y="349104"/>
                    <a:pt x="0" y="336563"/>
                  </a:cubicBezTo>
                  <a:lnTo>
                    <a:pt x="0" y="47284"/>
                  </a:lnTo>
                  <a:cubicBezTo>
                    <a:pt x="0" y="34744"/>
                    <a:pt x="4982" y="22717"/>
                    <a:pt x="13849" y="13849"/>
                  </a:cubicBezTo>
                  <a:cubicBezTo>
                    <a:pt x="22717" y="4982"/>
                    <a:pt x="34744" y="0"/>
                    <a:pt x="47284" y="0"/>
                  </a:cubicBezTo>
                  <a:close/>
                </a:path>
              </a:pathLst>
            </a:custGeom>
            <a:solidFill>
              <a:srgbClr val="F8FFF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38100"/>
              <a:ext cx="910419" cy="3457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04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3170795" y="8284399"/>
            <a:ext cx="4126249" cy="1159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7922" indent="-178961" lvl="1">
              <a:lnSpc>
                <a:spcPts val="2320"/>
              </a:lnSpc>
              <a:buFont typeface="Arial"/>
              <a:buChar char="•"/>
            </a:pPr>
            <a:r>
              <a:rPr lang="en-US" sz="1657" spc="-66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Nutrient solution</a:t>
            </a:r>
          </a:p>
          <a:p>
            <a:pPr algn="l" marL="357922" indent="-178961" lvl="1">
              <a:lnSpc>
                <a:spcPts val="2320"/>
              </a:lnSpc>
              <a:buFont typeface="Arial"/>
              <a:buChar char="•"/>
            </a:pPr>
            <a:r>
              <a:rPr lang="en-US" sz="1657" spc="-66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Doser pumps</a:t>
            </a:r>
          </a:p>
          <a:p>
            <a:pPr algn="l" marL="357922" indent="-178961" lvl="1">
              <a:lnSpc>
                <a:spcPts val="2320"/>
              </a:lnSpc>
              <a:buFont typeface="Arial"/>
              <a:buChar char="•"/>
            </a:pPr>
            <a:r>
              <a:rPr lang="en-US" sz="1657" spc="-66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1657" spc="-66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et cups + growing medium</a:t>
            </a:r>
          </a:p>
          <a:p>
            <a:pPr algn="l">
              <a:lnSpc>
                <a:spcPts val="232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3170795" y="7689712"/>
            <a:ext cx="4126249" cy="302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657" spc="-66" b="true">
                <a:solidFill>
                  <a:srgbClr val="2C4D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Nutrients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027863" y="1955709"/>
            <a:ext cx="4015644" cy="1694583"/>
            <a:chOff x="0" y="0"/>
            <a:chExt cx="700108" cy="29544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0108" cy="295443"/>
            </a:xfrm>
            <a:custGeom>
              <a:avLst/>
              <a:gdLst/>
              <a:ahLst/>
              <a:cxnLst/>
              <a:rect r="r" b="b" t="t" l="l"/>
              <a:pathLst>
                <a:path h="295443" w="700108">
                  <a:moveTo>
                    <a:pt x="48199" y="0"/>
                  </a:moveTo>
                  <a:lnTo>
                    <a:pt x="651910" y="0"/>
                  </a:lnTo>
                  <a:cubicBezTo>
                    <a:pt x="664693" y="0"/>
                    <a:pt x="676952" y="5078"/>
                    <a:pt x="685991" y="14117"/>
                  </a:cubicBezTo>
                  <a:cubicBezTo>
                    <a:pt x="695030" y="23156"/>
                    <a:pt x="700108" y="35415"/>
                    <a:pt x="700108" y="48199"/>
                  </a:cubicBezTo>
                  <a:lnTo>
                    <a:pt x="700108" y="247244"/>
                  </a:lnTo>
                  <a:cubicBezTo>
                    <a:pt x="700108" y="260027"/>
                    <a:pt x="695030" y="272287"/>
                    <a:pt x="685991" y="281326"/>
                  </a:cubicBezTo>
                  <a:cubicBezTo>
                    <a:pt x="676952" y="290364"/>
                    <a:pt x="664693" y="295443"/>
                    <a:pt x="651910" y="295443"/>
                  </a:cubicBezTo>
                  <a:lnTo>
                    <a:pt x="48199" y="295443"/>
                  </a:lnTo>
                  <a:cubicBezTo>
                    <a:pt x="35415" y="295443"/>
                    <a:pt x="23156" y="290364"/>
                    <a:pt x="14117" y="281326"/>
                  </a:cubicBezTo>
                  <a:cubicBezTo>
                    <a:pt x="5078" y="272287"/>
                    <a:pt x="0" y="260027"/>
                    <a:pt x="0" y="247244"/>
                  </a:cubicBezTo>
                  <a:lnTo>
                    <a:pt x="0" y="48199"/>
                  </a:lnTo>
                  <a:cubicBezTo>
                    <a:pt x="0" y="35415"/>
                    <a:pt x="5078" y="23156"/>
                    <a:pt x="14117" y="14117"/>
                  </a:cubicBezTo>
                  <a:cubicBezTo>
                    <a:pt x="23156" y="5078"/>
                    <a:pt x="35415" y="0"/>
                    <a:pt x="48199" y="0"/>
                  </a:cubicBezTo>
                  <a:close/>
                </a:path>
              </a:pathLst>
            </a:custGeom>
            <a:solidFill>
              <a:srgbClr val="F8FFF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38100"/>
              <a:ext cx="700108" cy="257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04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3154290" y="2636752"/>
            <a:ext cx="5263958" cy="93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9130" indent="-184565" lvl="1">
              <a:lnSpc>
                <a:spcPts val="2393"/>
              </a:lnSpc>
              <a:buFont typeface="Arial"/>
              <a:buChar char="•"/>
            </a:pPr>
            <a:r>
              <a:rPr lang="en-US" sz="1709" spc="-68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PVC frame + vertical columns</a:t>
            </a:r>
          </a:p>
          <a:p>
            <a:pPr algn="l" marL="369130" indent="-184565" lvl="1">
              <a:lnSpc>
                <a:spcPts val="2393"/>
              </a:lnSpc>
              <a:buFont typeface="Arial"/>
              <a:buChar char="•"/>
            </a:pPr>
            <a:r>
              <a:rPr lang="en-US" sz="1709" spc="-68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1709" spc="-68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eservoir tanks</a:t>
            </a:r>
          </a:p>
          <a:p>
            <a:pPr algn="l">
              <a:lnSpc>
                <a:spcPts val="2960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3217985" y="2041540"/>
            <a:ext cx="5263958" cy="292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3"/>
              </a:lnSpc>
            </a:pPr>
            <a:r>
              <a:rPr lang="en-US" sz="1709" spc="-68" b="true">
                <a:solidFill>
                  <a:srgbClr val="2C4D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Structure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732520" y="1955709"/>
            <a:ext cx="3100198" cy="1694583"/>
            <a:chOff x="0" y="0"/>
            <a:chExt cx="666691" cy="36441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66691" cy="364417"/>
            </a:xfrm>
            <a:custGeom>
              <a:avLst/>
              <a:gdLst/>
              <a:ahLst/>
              <a:cxnLst/>
              <a:rect r="r" b="b" t="t" l="l"/>
              <a:pathLst>
                <a:path h="364417" w="666691">
                  <a:moveTo>
                    <a:pt x="62431" y="0"/>
                  </a:moveTo>
                  <a:lnTo>
                    <a:pt x="604261" y="0"/>
                  </a:lnTo>
                  <a:cubicBezTo>
                    <a:pt x="638740" y="0"/>
                    <a:pt x="666691" y="27951"/>
                    <a:pt x="666691" y="62431"/>
                  </a:cubicBezTo>
                  <a:lnTo>
                    <a:pt x="666691" y="301986"/>
                  </a:lnTo>
                  <a:cubicBezTo>
                    <a:pt x="666691" y="318544"/>
                    <a:pt x="660114" y="334423"/>
                    <a:pt x="648406" y="346131"/>
                  </a:cubicBezTo>
                  <a:cubicBezTo>
                    <a:pt x="636698" y="357839"/>
                    <a:pt x="620818" y="364417"/>
                    <a:pt x="604261" y="364417"/>
                  </a:cubicBezTo>
                  <a:lnTo>
                    <a:pt x="62431" y="364417"/>
                  </a:lnTo>
                  <a:cubicBezTo>
                    <a:pt x="45873" y="364417"/>
                    <a:pt x="29994" y="357839"/>
                    <a:pt x="18286" y="346131"/>
                  </a:cubicBezTo>
                  <a:cubicBezTo>
                    <a:pt x="6578" y="334423"/>
                    <a:pt x="0" y="318544"/>
                    <a:pt x="0" y="301986"/>
                  </a:cubicBezTo>
                  <a:lnTo>
                    <a:pt x="0" y="62431"/>
                  </a:lnTo>
                  <a:cubicBezTo>
                    <a:pt x="0" y="27951"/>
                    <a:pt x="27951" y="0"/>
                    <a:pt x="62431" y="0"/>
                  </a:cubicBezTo>
                  <a:close/>
                </a:path>
              </a:pathLst>
            </a:custGeom>
            <a:solidFill>
              <a:srgbClr val="F8FFF7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38100"/>
              <a:ext cx="666691" cy="326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04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8886657" y="2636752"/>
            <a:ext cx="4267633" cy="146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9130" indent="-184565" lvl="1">
              <a:lnSpc>
                <a:spcPts val="2393"/>
              </a:lnSpc>
              <a:buFont typeface="Arial"/>
              <a:buChar char="•"/>
            </a:pPr>
            <a:r>
              <a:rPr lang="en-US" sz="1709" spc="-68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Water pumps</a:t>
            </a:r>
          </a:p>
          <a:p>
            <a:pPr algn="l" marL="369130" indent="-184565" lvl="1">
              <a:lnSpc>
                <a:spcPts val="2393"/>
              </a:lnSpc>
              <a:buFont typeface="Arial"/>
              <a:buChar char="•"/>
            </a:pPr>
            <a:r>
              <a:rPr lang="en-US" sz="1709" spc="-68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Tubing + mist nozzles</a:t>
            </a:r>
          </a:p>
          <a:p>
            <a:pPr algn="l" marL="369130" indent="-184565" lvl="1">
              <a:lnSpc>
                <a:spcPts val="2393"/>
              </a:lnSpc>
              <a:buFont typeface="Arial"/>
              <a:buChar char="•"/>
            </a:pPr>
            <a:r>
              <a:rPr lang="en-US" sz="1709" spc="-68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Flow meters</a:t>
            </a:r>
          </a:p>
          <a:p>
            <a:pPr algn="l">
              <a:lnSpc>
                <a:spcPts val="2393"/>
              </a:lnSpc>
            </a:pPr>
          </a:p>
          <a:p>
            <a:pPr algn="l">
              <a:lnSpc>
                <a:spcPts val="2393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8886657" y="2021689"/>
            <a:ext cx="4267633" cy="292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3"/>
              </a:lnSpc>
            </a:pPr>
            <a:r>
              <a:rPr lang="en-US" sz="1709" spc="-68" b="true">
                <a:solidFill>
                  <a:srgbClr val="2C4D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Flow System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950201" y="4749106"/>
            <a:ext cx="4093305" cy="1725804"/>
            <a:chOff x="0" y="0"/>
            <a:chExt cx="1045215" cy="44067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45215" cy="440679"/>
            </a:xfrm>
            <a:custGeom>
              <a:avLst/>
              <a:gdLst/>
              <a:ahLst/>
              <a:cxnLst/>
              <a:rect r="r" b="b" t="t" l="l"/>
              <a:pathLst>
                <a:path h="440679" w="1045215">
                  <a:moveTo>
                    <a:pt x="47284" y="0"/>
                  </a:moveTo>
                  <a:lnTo>
                    <a:pt x="997931" y="0"/>
                  </a:lnTo>
                  <a:cubicBezTo>
                    <a:pt x="1024045" y="0"/>
                    <a:pt x="1045215" y="21170"/>
                    <a:pt x="1045215" y="47284"/>
                  </a:cubicBezTo>
                  <a:lnTo>
                    <a:pt x="1045215" y="393395"/>
                  </a:lnTo>
                  <a:cubicBezTo>
                    <a:pt x="1045215" y="419510"/>
                    <a:pt x="1024045" y="440679"/>
                    <a:pt x="997931" y="440679"/>
                  </a:cubicBezTo>
                  <a:lnTo>
                    <a:pt x="47284" y="440679"/>
                  </a:lnTo>
                  <a:cubicBezTo>
                    <a:pt x="34744" y="440679"/>
                    <a:pt x="22717" y="435698"/>
                    <a:pt x="13849" y="426830"/>
                  </a:cubicBezTo>
                  <a:cubicBezTo>
                    <a:pt x="4982" y="417963"/>
                    <a:pt x="0" y="405936"/>
                    <a:pt x="0" y="393395"/>
                  </a:cubicBezTo>
                  <a:lnTo>
                    <a:pt x="0" y="47284"/>
                  </a:lnTo>
                  <a:cubicBezTo>
                    <a:pt x="0" y="34744"/>
                    <a:pt x="4982" y="22717"/>
                    <a:pt x="13849" y="13849"/>
                  </a:cubicBezTo>
                  <a:cubicBezTo>
                    <a:pt x="22717" y="4982"/>
                    <a:pt x="34744" y="0"/>
                    <a:pt x="47284" y="0"/>
                  </a:cubicBezTo>
                  <a:close/>
                </a:path>
              </a:pathLst>
            </a:custGeom>
            <a:solidFill>
              <a:srgbClr val="F8FFF7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38100"/>
              <a:ext cx="1045215" cy="402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04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3080012" y="5319659"/>
            <a:ext cx="3594108" cy="146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9130" indent="-184565" lvl="1">
              <a:lnSpc>
                <a:spcPts val="2393"/>
              </a:lnSpc>
              <a:buFont typeface="Arial"/>
              <a:buChar char="•"/>
            </a:pPr>
            <a:r>
              <a:rPr lang="en-US" sz="1709" spc="-68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Raspberry Pi</a:t>
            </a:r>
          </a:p>
          <a:p>
            <a:pPr algn="l" marL="369130" indent="-184565" lvl="1">
              <a:lnSpc>
                <a:spcPts val="2393"/>
              </a:lnSpc>
              <a:buFont typeface="Arial"/>
              <a:buChar char="•"/>
            </a:pPr>
            <a:r>
              <a:rPr lang="en-US" sz="1709" spc="-68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</a:t>
            </a:r>
            <a:r>
              <a:rPr lang="en-US" sz="1709" spc="-68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nsors (pH, TDS, water level, light)</a:t>
            </a:r>
          </a:p>
          <a:p>
            <a:pPr algn="l" marL="369130" indent="-184565" lvl="1">
              <a:lnSpc>
                <a:spcPts val="2393"/>
              </a:lnSpc>
              <a:buFont typeface="Arial"/>
              <a:buChar char="•"/>
            </a:pPr>
            <a:r>
              <a:rPr lang="en-US" sz="1709" spc="-68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</a:t>
            </a:r>
            <a:r>
              <a:rPr lang="en-US" sz="1709" spc="-68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lay module + power supply</a:t>
            </a:r>
          </a:p>
          <a:p>
            <a:pPr algn="l">
              <a:lnSpc>
                <a:spcPts val="2393"/>
              </a:lnSpc>
            </a:pPr>
          </a:p>
          <a:p>
            <a:pPr algn="l">
              <a:lnSpc>
                <a:spcPts val="2393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13087521" y="4858284"/>
            <a:ext cx="3594108" cy="292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3"/>
              </a:lnSpc>
            </a:pPr>
            <a:r>
              <a:rPr lang="en-US" sz="1709" spc="-68" b="true">
                <a:solidFill>
                  <a:srgbClr val="2C4D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Control System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8732520" y="4749106"/>
            <a:ext cx="3100198" cy="1725804"/>
            <a:chOff x="0" y="0"/>
            <a:chExt cx="708962" cy="39466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08962" cy="394662"/>
            </a:xfrm>
            <a:custGeom>
              <a:avLst/>
              <a:gdLst/>
              <a:ahLst/>
              <a:cxnLst/>
              <a:rect r="r" b="b" t="t" l="l"/>
              <a:pathLst>
                <a:path h="394662" w="708962">
                  <a:moveTo>
                    <a:pt x="62431" y="0"/>
                  </a:moveTo>
                  <a:lnTo>
                    <a:pt x="646531" y="0"/>
                  </a:lnTo>
                  <a:cubicBezTo>
                    <a:pt x="681011" y="0"/>
                    <a:pt x="708962" y="27951"/>
                    <a:pt x="708962" y="62431"/>
                  </a:cubicBezTo>
                  <a:lnTo>
                    <a:pt x="708962" y="332231"/>
                  </a:lnTo>
                  <a:cubicBezTo>
                    <a:pt x="708962" y="348788"/>
                    <a:pt x="702384" y="364668"/>
                    <a:pt x="690676" y="376376"/>
                  </a:cubicBezTo>
                  <a:cubicBezTo>
                    <a:pt x="678968" y="388084"/>
                    <a:pt x="663089" y="394662"/>
                    <a:pt x="646531" y="394662"/>
                  </a:cubicBezTo>
                  <a:lnTo>
                    <a:pt x="62431" y="394662"/>
                  </a:lnTo>
                  <a:cubicBezTo>
                    <a:pt x="27951" y="394662"/>
                    <a:pt x="0" y="366710"/>
                    <a:pt x="0" y="332231"/>
                  </a:cubicBezTo>
                  <a:lnTo>
                    <a:pt x="0" y="62431"/>
                  </a:lnTo>
                  <a:cubicBezTo>
                    <a:pt x="0" y="27951"/>
                    <a:pt x="27951" y="0"/>
                    <a:pt x="62431" y="0"/>
                  </a:cubicBezTo>
                  <a:close/>
                </a:path>
              </a:pathLst>
            </a:custGeom>
            <a:solidFill>
              <a:srgbClr val="F8FFF7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38100"/>
              <a:ext cx="708962" cy="356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04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8895019" y="5436675"/>
            <a:ext cx="2451061" cy="1169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9130" indent="-184565" lvl="1">
              <a:lnSpc>
                <a:spcPts val="2393"/>
              </a:lnSpc>
              <a:buFont typeface="Arial"/>
              <a:buChar char="•"/>
            </a:pPr>
            <a:r>
              <a:rPr lang="en-US" sz="1709" spc="-68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Solar panel (Optional)</a:t>
            </a:r>
          </a:p>
          <a:p>
            <a:pPr algn="l" marL="369130" indent="-184565" lvl="1">
              <a:lnSpc>
                <a:spcPts val="2393"/>
              </a:lnSpc>
              <a:buFont typeface="Arial"/>
              <a:buChar char="•"/>
            </a:pPr>
            <a:r>
              <a:rPr lang="en-US" sz="1709" spc="-68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battery</a:t>
            </a:r>
          </a:p>
          <a:p>
            <a:pPr algn="l" marL="369130" indent="-184565" lvl="1">
              <a:lnSpc>
                <a:spcPts val="2393"/>
              </a:lnSpc>
              <a:buFont typeface="Arial"/>
              <a:buChar char="•"/>
            </a:pPr>
            <a:r>
              <a:rPr lang="en-US" sz="1709" spc="-68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controller (Optional</a:t>
            </a:r>
          </a:p>
          <a:p>
            <a:pPr algn="l">
              <a:lnSpc>
                <a:spcPts val="2393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8958224" y="4858284"/>
            <a:ext cx="4013184" cy="292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3"/>
              </a:lnSpc>
            </a:pPr>
            <a:r>
              <a:rPr lang="en-US" sz="1709" spc="-68" b="true">
                <a:solidFill>
                  <a:srgbClr val="2C4D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Energy </a:t>
            </a:r>
          </a:p>
        </p:txBody>
      </p:sp>
      <p:sp>
        <p:nvSpPr>
          <p:cNvPr name="AutoShape 38" id="38"/>
          <p:cNvSpPr/>
          <p:nvPr/>
        </p:nvSpPr>
        <p:spPr>
          <a:xfrm flipV="true">
            <a:off x="6535623" y="1955709"/>
            <a:ext cx="0" cy="816705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>
            <a:off x="5681508" y="5558467"/>
            <a:ext cx="640080" cy="353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0" id="40"/>
          <p:cNvSpPr/>
          <p:nvPr/>
        </p:nvSpPr>
        <p:spPr>
          <a:xfrm flipH="true" flipV="true">
            <a:off x="5681508" y="4691871"/>
            <a:ext cx="0" cy="173319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>
            <a:off x="6535623" y="4363030"/>
            <a:ext cx="850006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>
            <a:off x="6535623" y="7178614"/>
            <a:ext cx="850006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>
            <a:off x="6537960" y="10103716"/>
            <a:ext cx="850006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 flipH="true" flipV="true">
            <a:off x="15015904" y="3691878"/>
            <a:ext cx="0" cy="68575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5" id="45"/>
          <p:cNvSpPr/>
          <p:nvPr/>
        </p:nvSpPr>
        <p:spPr>
          <a:xfrm flipH="true" flipV="true">
            <a:off x="10215300" y="6492861"/>
            <a:ext cx="0" cy="68575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6" id="46"/>
          <p:cNvSpPr/>
          <p:nvPr/>
        </p:nvSpPr>
        <p:spPr>
          <a:xfrm flipH="true" flipV="true">
            <a:off x="15018972" y="6511268"/>
            <a:ext cx="0" cy="68575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7" id="47"/>
          <p:cNvSpPr/>
          <p:nvPr/>
        </p:nvSpPr>
        <p:spPr>
          <a:xfrm flipH="true" flipV="true">
            <a:off x="10215300" y="9417963"/>
            <a:ext cx="0" cy="68575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8" id="48"/>
          <p:cNvSpPr/>
          <p:nvPr/>
        </p:nvSpPr>
        <p:spPr>
          <a:xfrm flipH="true" flipV="true">
            <a:off x="15018972" y="9437013"/>
            <a:ext cx="0" cy="68575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9" id="49"/>
          <p:cNvSpPr/>
          <p:nvPr/>
        </p:nvSpPr>
        <p:spPr>
          <a:xfrm flipH="true" flipV="true">
            <a:off x="10120549" y="3683854"/>
            <a:ext cx="0" cy="68575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1F4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9662" y="2285372"/>
            <a:ext cx="15748676" cy="6972928"/>
            <a:chOff x="0" y="0"/>
            <a:chExt cx="3691121" cy="16342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91121" cy="1634291"/>
            </a:xfrm>
            <a:custGeom>
              <a:avLst/>
              <a:gdLst/>
              <a:ahLst/>
              <a:cxnLst/>
              <a:rect r="r" b="b" t="t" l="l"/>
              <a:pathLst>
                <a:path h="1634291" w="3691121">
                  <a:moveTo>
                    <a:pt x="12290" y="0"/>
                  </a:moveTo>
                  <a:lnTo>
                    <a:pt x="3678831" y="0"/>
                  </a:lnTo>
                  <a:cubicBezTo>
                    <a:pt x="3682090" y="0"/>
                    <a:pt x="3685217" y="1295"/>
                    <a:pt x="3687521" y="3600"/>
                  </a:cubicBezTo>
                  <a:cubicBezTo>
                    <a:pt x="3689826" y="5904"/>
                    <a:pt x="3691121" y="9030"/>
                    <a:pt x="3691121" y="12290"/>
                  </a:cubicBezTo>
                  <a:lnTo>
                    <a:pt x="3691121" y="1622001"/>
                  </a:lnTo>
                  <a:cubicBezTo>
                    <a:pt x="3691121" y="1625261"/>
                    <a:pt x="3689826" y="1628387"/>
                    <a:pt x="3687521" y="1630692"/>
                  </a:cubicBezTo>
                  <a:cubicBezTo>
                    <a:pt x="3685217" y="1632996"/>
                    <a:pt x="3682090" y="1634291"/>
                    <a:pt x="3678831" y="1634291"/>
                  </a:cubicBezTo>
                  <a:lnTo>
                    <a:pt x="12290" y="1634291"/>
                  </a:lnTo>
                  <a:cubicBezTo>
                    <a:pt x="9030" y="1634291"/>
                    <a:pt x="5904" y="1632996"/>
                    <a:pt x="3600" y="1630692"/>
                  </a:cubicBezTo>
                  <a:cubicBezTo>
                    <a:pt x="1295" y="1628387"/>
                    <a:pt x="0" y="1625261"/>
                    <a:pt x="0" y="1622001"/>
                  </a:cubicBezTo>
                  <a:lnTo>
                    <a:pt x="0" y="12290"/>
                  </a:lnTo>
                  <a:cubicBezTo>
                    <a:pt x="0" y="9030"/>
                    <a:pt x="1295" y="5904"/>
                    <a:pt x="3600" y="3600"/>
                  </a:cubicBezTo>
                  <a:cubicBezTo>
                    <a:pt x="5904" y="1295"/>
                    <a:pt x="9030" y="0"/>
                    <a:pt x="12290" y="0"/>
                  </a:cubicBezTo>
                  <a:close/>
                </a:path>
              </a:pathLst>
            </a:custGeom>
            <a:solidFill>
              <a:srgbClr val="F8FF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3691121" cy="15961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0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4617" y="684062"/>
            <a:ext cx="10974822" cy="1355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23"/>
              </a:lnSpc>
            </a:pPr>
            <a:r>
              <a:rPr lang="en-US" sz="10915" spc="-458">
                <a:solidFill>
                  <a:srgbClr val="2C4D32"/>
                </a:solidFill>
                <a:latin typeface="Anton"/>
                <a:ea typeface="Anton"/>
                <a:cs typeface="Anton"/>
                <a:sym typeface="Anton"/>
              </a:rPr>
              <a:t>RISKS AND MITIGATION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82340" y="3147302"/>
            <a:ext cx="4226312" cy="6110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657" indent="-169829" lvl="1">
              <a:lnSpc>
                <a:spcPts val="2202"/>
              </a:lnSpc>
              <a:buFont typeface="Arial"/>
              <a:buChar char="•"/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Pump Failure (Flow System)</a:t>
            </a:r>
          </a:p>
          <a:p>
            <a:pPr algn="l">
              <a:lnSpc>
                <a:spcPts val="2202"/>
              </a:lnSpc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   </a:t>
            </a: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→ Loss of mist → plants die within ~30 minutes</a:t>
            </a:r>
          </a:p>
          <a:p>
            <a:pPr algn="l">
              <a:lnSpc>
                <a:spcPts val="2202"/>
              </a:lnSpc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Solution:</a:t>
            </a:r>
          </a:p>
          <a:p>
            <a:pPr algn="l" marL="339657" indent="-169829" lvl="1">
              <a:lnSpc>
                <a:spcPts val="2202"/>
              </a:lnSpc>
              <a:buFont typeface="Arial"/>
              <a:buChar char="•"/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 reliable pump (rated continuous use)</a:t>
            </a:r>
          </a:p>
          <a:p>
            <a:pPr algn="l" marL="339657" indent="-169829" lvl="1">
              <a:lnSpc>
                <a:spcPts val="2202"/>
              </a:lnSpc>
              <a:buFont typeface="Arial"/>
              <a:buChar char="•"/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Keep backup pump available</a:t>
            </a:r>
          </a:p>
          <a:p>
            <a:pPr algn="l" marL="339657" indent="-169829" lvl="1">
              <a:lnSpc>
                <a:spcPts val="2202"/>
              </a:lnSpc>
              <a:buFont typeface="Arial"/>
              <a:buChar char="•"/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Test before full operation</a:t>
            </a:r>
          </a:p>
          <a:p>
            <a:pPr algn="l">
              <a:lnSpc>
                <a:spcPts val="2202"/>
              </a:lnSpc>
            </a:pPr>
          </a:p>
          <a:p>
            <a:pPr algn="l" marL="339657" indent="-169829" lvl="1">
              <a:lnSpc>
                <a:spcPts val="2202"/>
              </a:lnSpc>
              <a:buFont typeface="Arial"/>
              <a:buChar char="•"/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Clogged Tubing / Nozzles</a:t>
            </a:r>
          </a:p>
          <a:p>
            <a:pPr algn="l">
              <a:lnSpc>
                <a:spcPts val="2202"/>
              </a:lnSpc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  </a:t>
            </a: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→ Uneven or no nutrient delivery</a:t>
            </a:r>
          </a:p>
          <a:p>
            <a:pPr algn="l">
              <a:lnSpc>
                <a:spcPts val="2202"/>
              </a:lnSpc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Solution:</a:t>
            </a:r>
          </a:p>
          <a:p>
            <a:pPr algn="l" marL="339657" indent="-169829" lvl="1">
              <a:lnSpc>
                <a:spcPts val="2202"/>
              </a:lnSpc>
              <a:buFont typeface="Arial"/>
              <a:buChar char="•"/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 filtered water</a:t>
            </a:r>
          </a:p>
          <a:p>
            <a:pPr algn="l" marL="339657" indent="-169829" lvl="1">
              <a:lnSpc>
                <a:spcPts val="2202"/>
              </a:lnSpc>
              <a:buFont typeface="Arial"/>
              <a:buChar char="•"/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Regular cleaning schedule</a:t>
            </a:r>
          </a:p>
          <a:p>
            <a:pPr algn="l" marL="339657" indent="-169829" lvl="1">
              <a:lnSpc>
                <a:spcPts val="2202"/>
              </a:lnSpc>
              <a:buFont typeface="Arial"/>
              <a:buChar char="•"/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Easy-access tubing design</a:t>
            </a:r>
          </a:p>
          <a:p>
            <a:pPr algn="l">
              <a:lnSpc>
                <a:spcPts val="2202"/>
              </a:lnSpc>
            </a:pPr>
          </a:p>
          <a:p>
            <a:pPr algn="l" marL="339657" indent="-169829" lvl="1">
              <a:lnSpc>
                <a:spcPts val="2202"/>
              </a:lnSpc>
              <a:buFont typeface="Arial"/>
              <a:buChar char="•"/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Power Failure</a:t>
            </a:r>
          </a:p>
          <a:p>
            <a:pPr algn="l">
              <a:lnSpc>
                <a:spcPts val="2202"/>
              </a:lnSpc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   </a:t>
            </a: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→ Entire system shuts down</a:t>
            </a:r>
          </a:p>
          <a:p>
            <a:pPr algn="l">
              <a:lnSpc>
                <a:spcPts val="2202"/>
              </a:lnSpc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Solution:</a:t>
            </a:r>
          </a:p>
          <a:p>
            <a:pPr algn="l" marL="339657" indent="-169829" lvl="1">
              <a:lnSpc>
                <a:spcPts val="2202"/>
              </a:lnSpc>
              <a:buFont typeface="Arial"/>
              <a:buChar char="•"/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Add battery backup (later phase)</a:t>
            </a:r>
          </a:p>
          <a:p>
            <a:pPr algn="l" marL="339657" indent="-169829" lvl="1">
              <a:lnSpc>
                <a:spcPts val="2202"/>
              </a:lnSpc>
              <a:buFont typeface="Arial"/>
              <a:buChar char="•"/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Manual check schedule</a:t>
            </a:r>
          </a:p>
          <a:p>
            <a:pPr algn="l" marL="339657" indent="-169829" lvl="1">
              <a:lnSpc>
                <a:spcPts val="2202"/>
              </a:lnSpc>
              <a:buFont typeface="Arial"/>
              <a:buChar char="•"/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Alert system (future upgrade)</a:t>
            </a:r>
          </a:p>
          <a:p>
            <a:pPr algn="l">
              <a:lnSpc>
                <a:spcPts val="2202"/>
              </a:lnSpc>
            </a:pPr>
          </a:p>
          <a:p>
            <a:pPr algn="l">
              <a:lnSpc>
                <a:spcPts val="2202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482340" y="2752519"/>
            <a:ext cx="2916230" cy="56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2"/>
              </a:lnSpc>
            </a:pPr>
            <a:r>
              <a:rPr lang="en-US" sz="1573" spc="-62" b="true">
                <a:solidFill>
                  <a:srgbClr val="2C4D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System Failure Risks</a:t>
            </a:r>
          </a:p>
          <a:p>
            <a:pPr algn="l">
              <a:lnSpc>
                <a:spcPts val="2202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391175" y="3147302"/>
            <a:ext cx="3983030" cy="416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657" indent="-169829" lvl="1">
              <a:lnSpc>
                <a:spcPts val="2202"/>
              </a:lnSpc>
              <a:buFont typeface="Arial"/>
              <a:buChar char="•"/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Sensor Failure (pH / TDS / Water Level)</a:t>
            </a:r>
          </a:p>
          <a:p>
            <a:pPr algn="l">
              <a:lnSpc>
                <a:spcPts val="2202"/>
              </a:lnSpc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   </a:t>
            </a: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→ Incorrect nutrient conditions</a:t>
            </a:r>
          </a:p>
          <a:p>
            <a:pPr algn="l">
              <a:lnSpc>
                <a:spcPts val="2202"/>
              </a:lnSpc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Solution:</a:t>
            </a:r>
          </a:p>
          <a:p>
            <a:pPr algn="l" marL="339657" indent="-169829" lvl="1">
              <a:lnSpc>
                <a:spcPts val="2202"/>
              </a:lnSpc>
              <a:buFont typeface="Arial"/>
              <a:buChar char="•"/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Manual verification (weekly)</a:t>
            </a:r>
          </a:p>
          <a:p>
            <a:pPr algn="l" marL="339657" indent="-169829" lvl="1">
              <a:lnSpc>
                <a:spcPts val="2202"/>
              </a:lnSpc>
              <a:buFont typeface="Arial"/>
              <a:buChar char="•"/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Calibrate sensors regularly</a:t>
            </a:r>
          </a:p>
          <a:p>
            <a:pPr algn="l" marL="339657" indent="-169829" lvl="1">
              <a:lnSpc>
                <a:spcPts val="2202"/>
              </a:lnSpc>
              <a:buFont typeface="Arial"/>
              <a:buChar char="•"/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Redundant checks (visual + measurement)</a:t>
            </a:r>
          </a:p>
          <a:p>
            <a:pPr algn="l">
              <a:lnSpc>
                <a:spcPts val="2202"/>
              </a:lnSpc>
            </a:pPr>
          </a:p>
          <a:p>
            <a:pPr algn="l" marL="339657" indent="-169829" lvl="1">
              <a:lnSpc>
                <a:spcPts val="2202"/>
              </a:lnSpc>
              <a:buFont typeface="Arial"/>
              <a:buChar char="•"/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Relay / Electrical Failure</a:t>
            </a:r>
          </a:p>
          <a:p>
            <a:pPr algn="l">
              <a:lnSpc>
                <a:spcPts val="2202"/>
              </a:lnSpc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  </a:t>
            </a: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→ Pump or system not triggered</a:t>
            </a:r>
          </a:p>
          <a:p>
            <a:pPr algn="l">
              <a:lnSpc>
                <a:spcPts val="2202"/>
              </a:lnSpc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Solution:</a:t>
            </a:r>
          </a:p>
          <a:p>
            <a:pPr algn="l" marL="339657" indent="-169829" lvl="1">
              <a:lnSpc>
                <a:spcPts val="2202"/>
              </a:lnSpc>
              <a:buFont typeface="Arial"/>
              <a:buChar char="•"/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Test wiring before deployment</a:t>
            </a:r>
          </a:p>
          <a:p>
            <a:pPr algn="l" marL="339657" indent="-169829" lvl="1">
              <a:lnSpc>
                <a:spcPts val="2202"/>
              </a:lnSpc>
              <a:buFont typeface="Arial"/>
              <a:buChar char="•"/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 fused connections</a:t>
            </a:r>
          </a:p>
          <a:p>
            <a:pPr algn="l" marL="339657" indent="-169829" lvl="1">
              <a:lnSpc>
                <a:spcPts val="2202"/>
              </a:lnSpc>
              <a:buFont typeface="Arial"/>
              <a:buChar char="•"/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Keep spare relay module</a:t>
            </a:r>
          </a:p>
          <a:p>
            <a:pPr algn="l">
              <a:lnSpc>
                <a:spcPts val="2202"/>
              </a:lnSpc>
            </a:pPr>
          </a:p>
          <a:p>
            <a:pPr algn="l">
              <a:lnSpc>
                <a:spcPts val="2202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391175" y="2752519"/>
            <a:ext cx="2916230" cy="56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2"/>
              </a:lnSpc>
            </a:pPr>
            <a:r>
              <a:rPr lang="en-US" sz="1573" spc="-62" b="true">
                <a:solidFill>
                  <a:srgbClr val="2C4D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Measurement &amp; Control Risks</a:t>
            </a:r>
          </a:p>
          <a:p>
            <a:pPr algn="l">
              <a:lnSpc>
                <a:spcPts val="2202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2244484" y="3147302"/>
            <a:ext cx="3863253" cy="416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657" indent="-169829" lvl="1">
              <a:lnSpc>
                <a:spcPts val="2202"/>
              </a:lnSpc>
              <a:buFont typeface="Arial"/>
              <a:buChar char="•"/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No Summer Maintenance</a:t>
            </a:r>
          </a:p>
          <a:p>
            <a:pPr algn="l">
              <a:lnSpc>
                <a:spcPts val="2202"/>
              </a:lnSpc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   </a:t>
            </a: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→ System dries out and fails</a:t>
            </a:r>
          </a:p>
          <a:p>
            <a:pPr algn="l">
              <a:lnSpc>
                <a:spcPts val="2202"/>
              </a:lnSpc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Solution:</a:t>
            </a:r>
          </a:p>
          <a:p>
            <a:pPr algn="l" marL="339657" indent="-169829" lvl="1">
              <a:lnSpc>
                <a:spcPts val="2202"/>
              </a:lnSpc>
              <a:buFont typeface="Arial"/>
              <a:buChar char="•"/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Assign weekly maintenance roles</a:t>
            </a:r>
          </a:p>
          <a:p>
            <a:pPr algn="l" marL="339657" indent="-169829" lvl="1">
              <a:lnSpc>
                <a:spcPts val="2202"/>
              </a:lnSpc>
              <a:buFont typeface="Arial"/>
              <a:buChar char="•"/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Create schedule before build</a:t>
            </a:r>
          </a:p>
          <a:p>
            <a:pPr algn="l" marL="339657" indent="-169829" lvl="1">
              <a:lnSpc>
                <a:spcPts val="2202"/>
              </a:lnSpc>
              <a:buFont typeface="Arial"/>
              <a:buChar char="•"/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Transfer ownership if needed</a:t>
            </a:r>
          </a:p>
          <a:p>
            <a:pPr algn="l">
              <a:lnSpc>
                <a:spcPts val="2202"/>
              </a:lnSpc>
            </a:pPr>
          </a:p>
          <a:p>
            <a:pPr algn="l" marL="339657" indent="-169829" lvl="1">
              <a:lnSpc>
                <a:spcPts val="2202"/>
              </a:lnSpc>
              <a:buFont typeface="Arial"/>
              <a:buChar char="•"/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Delayed Structure Build</a:t>
            </a:r>
          </a:p>
          <a:p>
            <a:pPr algn="l">
              <a:lnSpc>
                <a:spcPts val="2202"/>
              </a:lnSpc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   </a:t>
            </a: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→ Entire project timeline pushed back</a:t>
            </a:r>
          </a:p>
          <a:p>
            <a:pPr algn="l">
              <a:lnSpc>
                <a:spcPts val="2202"/>
              </a:lnSpc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Solution:</a:t>
            </a:r>
          </a:p>
          <a:p>
            <a:pPr algn="l" marL="339657" indent="-169829" lvl="1">
              <a:lnSpc>
                <a:spcPts val="2202"/>
              </a:lnSpc>
              <a:buFont typeface="Arial"/>
              <a:buChar char="•"/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Prioritize structure materials first</a:t>
            </a:r>
          </a:p>
          <a:p>
            <a:pPr algn="l" marL="339657" indent="-169829" lvl="1">
              <a:lnSpc>
                <a:spcPts val="2202"/>
              </a:lnSpc>
              <a:buFont typeface="Arial"/>
              <a:buChar char="•"/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Assign structure lead</a:t>
            </a:r>
          </a:p>
          <a:p>
            <a:pPr algn="l" marL="339657" indent="-169829" lvl="1">
              <a:lnSpc>
                <a:spcPts val="2202"/>
              </a:lnSpc>
              <a:buFont typeface="Arial"/>
              <a:buChar char="•"/>
            </a:pPr>
            <a:r>
              <a:rPr lang="en-US" sz="1573" spc="-62">
                <a:solidFill>
                  <a:srgbClr val="2C4D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Set early build deadline</a:t>
            </a:r>
          </a:p>
          <a:p>
            <a:pPr algn="l">
              <a:lnSpc>
                <a:spcPts val="2202"/>
              </a:lnSpc>
            </a:pPr>
          </a:p>
          <a:p>
            <a:pPr algn="l">
              <a:lnSpc>
                <a:spcPts val="2202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2244484" y="2752519"/>
            <a:ext cx="2916230" cy="56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2"/>
              </a:lnSpc>
            </a:pPr>
            <a:r>
              <a:rPr lang="en-US" sz="1573" spc="-62" b="true">
                <a:solidFill>
                  <a:srgbClr val="2C4D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Project Execution Risks</a:t>
            </a:r>
          </a:p>
          <a:p>
            <a:pPr algn="l">
              <a:lnSpc>
                <a:spcPts val="2202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F4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9662" y="2285372"/>
            <a:ext cx="15748676" cy="6972928"/>
            <a:chOff x="0" y="0"/>
            <a:chExt cx="3691121" cy="16342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91121" cy="1634291"/>
            </a:xfrm>
            <a:custGeom>
              <a:avLst/>
              <a:gdLst/>
              <a:ahLst/>
              <a:cxnLst/>
              <a:rect r="r" b="b" t="t" l="l"/>
              <a:pathLst>
                <a:path h="1634291" w="3691121">
                  <a:moveTo>
                    <a:pt x="12290" y="0"/>
                  </a:moveTo>
                  <a:lnTo>
                    <a:pt x="3678831" y="0"/>
                  </a:lnTo>
                  <a:cubicBezTo>
                    <a:pt x="3682090" y="0"/>
                    <a:pt x="3685217" y="1295"/>
                    <a:pt x="3687521" y="3600"/>
                  </a:cubicBezTo>
                  <a:cubicBezTo>
                    <a:pt x="3689826" y="5904"/>
                    <a:pt x="3691121" y="9030"/>
                    <a:pt x="3691121" y="12290"/>
                  </a:cubicBezTo>
                  <a:lnTo>
                    <a:pt x="3691121" y="1622001"/>
                  </a:lnTo>
                  <a:cubicBezTo>
                    <a:pt x="3691121" y="1625261"/>
                    <a:pt x="3689826" y="1628387"/>
                    <a:pt x="3687521" y="1630692"/>
                  </a:cubicBezTo>
                  <a:cubicBezTo>
                    <a:pt x="3685217" y="1632996"/>
                    <a:pt x="3682090" y="1634291"/>
                    <a:pt x="3678831" y="1634291"/>
                  </a:cubicBezTo>
                  <a:lnTo>
                    <a:pt x="12290" y="1634291"/>
                  </a:lnTo>
                  <a:cubicBezTo>
                    <a:pt x="9030" y="1634291"/>
                    <a:pt x="5904" y="1632996"/>
                    <a:pt x="3600" y="1630692"/>
                  </a:cubicBezTo>
                  <a:cubicBezTo>
                    <a:pt x="1295" y="1628387"/>
                    <a:pt x="0" y="1625261"/>
                    <a:pt x="0" y="1622001"/>
                  </a:cubicBezTo>
                  <a:lnTo>
                    <a:pt x="0" y="12290"/>
                  </a:lnTo>
                  <a:cubicBezTo>
                    <a:pt x="0" y="9030"/>
                    <a:pt x="1295" y="5904"/>
                    <a:pt x="3600" y="3600"/>
                  </a:cubicBezTo>
                  <a:cubicBezTo>
                    <a:pt x="5904" y="1295"/>
                    <a:pt x="9030" y="0"/>
                    <a:pt x="12290" y="0"/>
                  </a:cubicBezTo>
                  <a:close/>
                </a:path>
              </a:pathLst>
            </a:custGeom>
            <a:solidFill>
              <a:srgbClr val="F8FF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3691121" cy="15961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04"/>
                </a:lnSpc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0" y="592741"/>
          <a:ext cx="7586157" cy="4274588"/>
        </p:xfrm>
        <a:graphic>
          <a:graphicData uri="http://schemas.openxmlformats.org/presentationml/2006/ole">
            <p:oleObj imgW="9105900" imgH="5791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49878" y="104775"/>
            <a:ext cx="4210392" cy="522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8"/>
              </a:lnSpc>
            </a:pPr>
            <a:r>
              <a:rPr lang="en-US" sz="4187" spc="-175">
                <a:solidFill>
                  <a:srgbClr val="2C4D32"/>
                </a:solidFill>
                <a:latin typeface="Anton"/>
                <a:ea typeface="Anton"/>
                <a:cs typeface="Anton"/>
                <a:sym typeface="Anton"/>
              </a:rPr>
              <a:t>BOM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F4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232084" y="2461989"/>
          <a:ext cx="7586157" cy="4274588"/>
        </p:xfrm>
        <a:graphic>
          <a:graphicData uri="http://schemas.openxmlformats.org/presentationml/2006/ole">
            <p:oleObj imgW="9105900" imgH="5791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3" id="3"/>
          <p:cNvGraphicFramePr/>
          <p:nvPr/>
        </p:nvGraphicFramePr>
        <p:xfrm>
          <a:off x="429627" y="7222342"/>
          <a:ext cx="7586157" cy="4274588"/>
        </p:xfrm>
        <a:graphic>
          <a:graphicData uri="http://schemas.openxmlformats.org/presentationml/2006/ole">
            <p:oleObj imgW="9105900" imgH="5791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429627" y="503157"/>
            <a:ext cx="12297856" cy="1355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23"/>
              </a:lnSpc>
            </a:pPr>
            <a:r>
              <a:rPr lang="en-US" sz="10915" spc="-458">
                <a:solidFill>
                  <a:srgbClr val="2C4D32"/>
                </a:solidFill>
                <a:latin typeface="Anton"/>
                <a:ea typeface="Anton"/>
                <a:cs typeface="Anton"/>
                <a:sym typeface="Anton"/>
              </a:rPr>
              <a:t>TOOLS AND SPONSORSHIPS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F4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028700" y="2468092"/>
          <a:ext cx="14241120" cy="8229600"/>
        </p:xfrm>
        <a:graphic>
          <a:graphicData uri="http://schemas.openxmlformats.org/presentationml/2006/ole">
            <p:oleObj imgW="17081500" imgH="110744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421323" y="676751"/>
            <a:ext cx="8452790" cy="1562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82"/>
              </a:lnSpc>
            </a:pPr>
            <a:r>
              <a:rPr lang="en-US" sz="12647" spc="-531">
                <a:solidFill>
                  <a:srgbClr val="2C4D32"/>
                </a:solidFill>
                <a:latin typeface="Anton"/>
                <a:ea typeface="Anton"/>
                <a:cs typeface="Anton"/>
                <a:sym typeface="Anton"/>
              </a:rPr>
              <a:t>BUILD PROCESS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F4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429627" y="2076899"/>
          <a:ext cx="7586157" cy="4274588"/>
        </p:xfrm>
        <a:graphic>
          <a:graphicData uri="http://schemas.openxmlformats.org/presentationml/2006/ole">
            <p:oleObj imgW="9105900" imgH="5791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429627" y="503157"/>
            <a:ext cx="13105520" cy="1355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23"/>
              </a:lnSpc>
            </a:pPr>
            <a:r>
              <a:rPr lang="en-US" sz="10915" spc="-458">
                <a:solidFill>
                  <a:srgbClr val="2C4D32"/>
                </a:solidFill>
                <a:latin typeface="Anton"/>
                <a:ea typeface="Anton"/>
                <a:cs typeface="Anton"/>
                <a:sym typeface="Anton"/>
              </a:rPr>
              <a:t>ROLES AND RESPONSIBILITIES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34522" y="7667625"/>
            <a:ext cx="13017438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-126">
                <a:solidFill>
                  <a:srgbClr val="2C4D32"/>
                </a:solidFill>
                <a:latin typeface="Anton"/>
                <a:ea typeface="Anton"/>
                <a:cs typeface="Anton"/>
                <a:sym typeface="Anton"/>
              </a:rPr>
              <a:t>THIS CHART IS MEANT AS A GENERAL REPRESENTATION OF WHAT TASKS NEED TO BE DONE, NOT A STRICT ASSIGNMENT SHEET. I ENCOURAGE PEOPLE TO WORK TOGETHER IN AN INTERCONNECTED WAY. IF WE KNOW SOMEONE WILL BE GONE FOR A SPECIFIC WEEK/TIME PERIOD WE CAN MOVE AROUND WHO DOES WHAT.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DAHR7WuLdnk</dc:identifier>
  <dcterms:modified xsi:type="dcterms:W3CDTF">2011-08-01T06:04:30Z</dcterms:modified>
  <cp:revision>1</cp:revision>
  <dc:title>Copy of DATA-DRIVEN SOLAR AEROPONICS</dc:title>
</cp:coreProperties>
</file>